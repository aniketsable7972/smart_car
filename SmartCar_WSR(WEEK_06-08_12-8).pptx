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3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BBC21-F4AD-4517-87C5-D9EF924BE514}" v="4" dt="2025-08-13T10:43:27.073"/>
    <p1510:client id="{F7C04923-CAFD-7C0C-E1D2-16762F1FC86F}" v="3" dt="2025-08-13T09:54:11.8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ble, Harshad (Contractor)" userId="S::2350960@cognizant.com::3faf82a0-c331-4447-b8c7-09e1694e45ea" providerId="AD" clId="Web-{F7C04923-CAFD-7C0C-E1D2-16762F1FC86F}"/>
    <pc:docChg chg="modSld">
      <pc:chgData name="Kamble, Harshad (Contractor)" userId="S::2350960@cognizant.com::3faf82a0-c331-4447-b8c7-09e1694e45ea" providerId="AD" clId="Web-{F7C04923-CAFD-7C0C-E1D2-16762F1FC86F}" dt="2025-08-13T09:54:11.873" v="2"/>
      <pc:docMkLst>
        <pc:docMk/>
      </pc:docMkLst>
      <pc:sldChg chg="modSp">
        <pc:chgData name="Kamble, Harshad (Contractor)" userId="S::2350960@cognizant.com::3faf82a0-c331-4447-b8c7-09e1694e45ea" providerId="AD" clId="Web-{F7C04923-CAFD-7C0C-E1D2-16762F1FC86F}" dt="2025-08-13T09:54:11.873" v="2"/>
        <pc:sldMkLst>
          <pc:docMk/>
          <pc:sldMk cId="4097532017" sldId="263"/>
        </pc:sldMkLst>
        <pc:graphicFrameChg chg="mod modGraphic">
          <ac:chgData name="Kamble, Harshad (Contractor)" userId="S::2350960@cognizant.com::3faf82a0-c331-4447-b8c7-09e1694e45ea" providerId="AD" clId="Web-{F7C04923-CAFD-7C0C-E1D2-16762F1FC86F}" dt="2025-08-13T09:54:11.873" v="2"/>
          <ac:graphicFrameMkLst>
            <pc:docMk/>
            <pc:sldMk cId="4097532017" sldId="263"/>
            <ac:graphicFrameMk id="3" creationId="{018220E8-662E-29E0-5B38-69B2A355F3B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A085E-E936-4D95-99C3-190195599B88}" type="datetimeFigureOut">
              <a:rPr lang="en-IN" smtClean="0"/>
              <a:t>13-08-2025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2987C-52AF-410A-B98F-F4CAAD44E53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4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32987C-52AF-410A-B98F-F4CAAD44E53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368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A057-C18D-707B-5A0E-153453707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7FCB9-3DFB-7503-D479-040074DD6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D6B61-8BBB-A196-98A6-07B3AE82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CFC20-1AF7-1FB3-8083-AC291691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3D793-9A13-E416-F300-671E0228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5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B282-3118-CA19-1E8E-49F03771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153E6-B6AE-82BC-B695-E49A81A1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F7D70-F35D-1B5C-83C9-A56D26BB7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BBF47-8182-37F3-6BCA-B1F07135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A3C41-E7E3-DFCF-28C0-F2D435DF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63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EED5-6B9F-3B2E-B34B-F2854416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1BCC4-9F9B-5489-8946-F07AB3457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F0EB-E0E9-4E16-01B2-DE26EBA5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4568-6497-4560-13E6-8CC16E00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95D69-554B-CB91-729D-6524DCF1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67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4222-79E1-D87D-6F66-D61484CB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0F81F-EF1E-6C73-2172-CE444CA0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2AF6E-1D24-7FFF-0BED-366BF9EC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51C93-6EC0-CB00-15D5-71828DDD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6AD83-10DB-797D-D6FE-85ED4CD34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66E75-4ED0-37A9-F150-9AB3C300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66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6EAA-1F65-6557-5CD6-AB5792D4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6A16E-702C-BABC-7C6F-A3DEAE919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3E99A-F1CF-390A-4097-22CDC2039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DEA901-194D-A484-0422-9A6609FE8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311AF-24D1-0EB3-EC3F-3C27B6AD3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FDAA2-7210-FBF3-7F22-7105010D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940BC-5956-9A2D-3D1D-67AA8F6F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16956-9349-EC82-24A6-23E97F00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85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EC9D-F2C5-8EE4-DB26-33AD74A7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53256-CA79-E35A-0189-27A34BDE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86BC4-B260-DE14-E201-FE27B20F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BF710-E86F-BC2F-16F3-31BE8523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3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6A33B-E771-8BF1-CB93-48E98088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837BD-9F18-C084-E744-A5285290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70FD0-B33F-BC89-3AEE-6DC90341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3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A0C1-7A18-9B21-C347-F34E92F5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B47BC-C4FB-03B5-EAA7-273DA26D7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1D6C3-CB40-58A6-B788-296F74D3A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A0EC3-75FF-518E-59D1-A17BF5951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1BE50-B2CA-A675-146B-38589585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99E88-52D2-6208-D82A-9F1D5DA3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6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70FD-E825-C1EE-8332-0243B54C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63FEC2-8063-95E8-49F2-73701D2BB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0C769-72BB-D6E1-6A06-11AE70E61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8254B-C08E-70FA-1762-7AB0C0C7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726DE-AC69-EAEA-1070-B2D04E77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E7AF3-CDCE-945D-1517-E4138CE5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5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60FD-809C-CE65-4D69-4CD267A6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C2E74-0688-A355-0D20-218ED95E8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6277C-E989-EB6F-2FC5-1475B9F1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723DB-246D-0799-E2EE-35491396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10EB-B283-0749-86AE-314BD0C9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7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A6027B-ECEE-166B-5B34-36ED6A4E2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E0CE9-7A77-29FD-EAD6-888C343B6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7548-878F-E52F-4310-B531EFAA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C6645-8CA9-779C-211E-B8D3DBEB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C8FF-2BF0-239A-6956-060FFE28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27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CBD74-D374-0ED9-7731-2022B8645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5F794-972B-F289-FAD8-C4B57C74F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5FF8E-F9A9-0827-B314-F719FD9E5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78AD5-54CC-4824-AF16-56EDF1FD0556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E299B-68D3-2D57-C480-22A9F1C3D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48125-F792-0D18-8028-3B06A161D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83D1E-4B92-445C-8E95-C5D2649A00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84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75F95-4A66-1A64-7A37-67252A60B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Smart Car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Monitoring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- Cognizant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1CEC8CF-8BC1-F90B-F2A5-3280A1589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4220" y="3548470"/>
            <a:ext cx="5097780" cy="391061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Smar Car Monitoring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Weekly Status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CFC27-E118-CCDD-47D6-B6ADD2F9A923}"/>
              </a:ext>
            </a:extLst>
          </p:cNvPr>
          <p:cNvSpPr txBox="1"/>
          <p:nvPr/>
        </p:nvSpPr>
        <p:spPr>
          <a:xfrm>
            <a:off x="6256020" y="2266345"/>
            <a:ext cx="5097780" cy="3910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986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DB4A-568F-65A0-AECC-1BDE7AD8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7" y="0"/>
            <a:ext cx="10515600" cy="704850"/>
          </a:xfrm>
        </p:spPr>
        <p:txBody>
          <a:bodyPr>
            <a:normAutofit/>
          </a:bodyPr>
          <a:lstStyle/>
          <a:p>
            <a:r>
              <a:rPr lang="en-US" sz="3200" b="1" dirty="0"/>
              <a:t>Project Dashboard</a:t>
            </a:r>
          </a:p>
        </p:txBody>
      </p:sp>
      <p:graphicFrame>
        <p:nvGraphicFramePr>
          <p:cNvPr id="5" name="Group 80">
            <a:extLst>
              <a:ext uri="{FF2B5EF4-FFF2-40B4-BE49-F238E27FC236}">
                <a16:creationId xmlns:a16="http://schemas.microsoft.com/office/drawing/2014/main" id="{69D2D8B0-A7B2-4D05-414F-FCD22703A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05100"/>
              </p:ext>
            </p:extLst>
          </p:nvPr>
        </p:nvGraphicFramePr>
        <p:xfrm>
          <a:off x="78922" y="495185"/>
          <a:ext cx="11563404" cy="6306213"/>
        </p:xfrm>
        <a:graphic>
          <a:graphicData uri="http://schemas.openxmlformats.org/drawingml/2006/table">
            <a:tbl>
              <a:tblPr/>
              <a:tblGrid>
                <a:gridCol w="5354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305">
                  <a:extLst>
                    <a:ext uri="{9D8B030D-6E8A-4147-A177-3AD203B41FA5}">
                      <a16:colId xmlns:a16="http://schemas.microsoft.com/office/drawing/2014/main" val="4027561349"/>
                    </a:ext>
                  </a:extLst>
                </a:gridCol>
                <a:gridCol w="772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3287">
                  <a:extLst>
                    <a:ext uri="{9D8B030D-6E8A-4147-A177-3AD203B41FA5}">
                      <a16:colId xmlns:a16="http://schemas.microsoft.com/office/drawing/2014/main" val="3704730314"/>
                    </a:ext>
                  </a:extLst>
                </a:gridCol>
                <a:gridCol w="192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494">
                <a:tc gridSpan="6"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5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Project Name :  Smart Car Monitoring</a:t>
                      </a: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30"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Key Weekly Updates</a:t>
                      </a: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Critical Milestones</a:t>
                      </a: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30">
                <a:tc rowSpan="3"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07988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61391" marR="61391" marT="30696" marB="30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Sprint </a:t>
                      </a:r>
                    </a:p>
                  </a:txBody>
                  <a:tcPr marL="61391" marR="61391" marT="30696" marB="30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Start Date</a:t>
                      </a:r>
                    </a:p>
                  </a:txBody>
                  <a:tcPr marL="61391" marR="61391" marT="30696" marB="30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End Date</a:t>
                      </a:r>
                    </a:p>
                  </a:txBody>
                  <a:tcPr marL="61391" marR="61391" marT="30696" marB="30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Targeted Stories </a:t>
                      </a:r>
                    </a:p>
                  </a:txBody>
                  <a:tcPr marL="61391" marR="61391" marT="30696" marB="30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Completed Stories</a:t>
                      </a:r>
                    </a:p>
                  </a:txBody>
                  <a:tcPr marL="61391" marR="61391" marT="30696" marB="30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1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40798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46043" marR="46043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6523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06-08-2025</a:t>
                      </a:r>
                    </a:p>
                  </a:txBody>
                  <a:tcPr marL="34533" marR="34533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126523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12-08-2025</a:t>
                      </a:r>
                    </a:p>
                  </a:txBody>
                  <a:tcPr marL="34533" marR="34533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Designed Wireframe of project (Admin/Driver Dashboards)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Designed Database Schema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Created System Architecture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Use case documentation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Frontend development (Admin/Driver Dashboards)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HiveMQ Setup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dirty="0"/>
                        <a:t>Built MQTT Simulator for telemetry data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IN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  <a:sym typeface="Wingdings 2" pitchFamily="18" charset="2"/>
                      </a:endParaRP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+mn-lt"/>
                        </a:rPr>
                        <a:t>Designed Wireframe of project (Admin/Driver Dashboards)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+mn-lt"/>
                        </a:rPr>
                        <a:t>Designed Database Schema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+mn-lt"/>
                        </a:rPr>
                        <a:t>Created System Architecture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+mn-lt"/>
                        </a:rPr>
                        <a:t>Use case documentation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+mn-lt"/>
                        </a:rPr>
                        <a:t>Frontend development (Admin/Driver Dashboards)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+mn-lt"/>
                        </a:rPr>
                        <a:t>HiveMQ Setup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000" b="0" dirty="0">
                          <a:latin typeface="+mn-lt"/>
                        </a:rPr>
                        <a:t>Built MQTT Simulator for telemetry data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IN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  <a:sym typeface="Wingdings 2" pitchFamily="18" charset="2"/>
                      </a:endParaRP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288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46043" marR="46043" marT="0" marB="0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26523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34533" marR="34533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I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  <a:sym typeface="Wingdings 2" pitchFamily="18" charset="2"/>
                      </a:endParaRP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001524"/>
                  </a:ext>
                </a:extLst>
              </a:tr>
              <a:tr h="233630"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Issues / Risks</a:t>
                      </a: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charset="0"/>
                        </a:rPr>
                        <a:t>Key Activities for Next Week</a:t>
                      </a:r>
                    </a:p>
                  </a:txBody>
                  <a:tcPr marL="61391" marR="61391" marT="30696" marB="306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0433"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61391" marR="6139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Implement JWT authentication and secure token handling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Develop REST APIs for core functionalities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Conduct API testing and integrate backend with MySQL</a:t>
                      </a:r>
                    </a:p>
                    <a:p>
                      <a:pPr marL="285750" marR="0" lvl="0" indent="-285750" algn="l" defTabSz="3456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dirty="0"/>
                        <a:t>Frontend Backend integration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200" b="0" i="0" kern="1200" dirty="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tx2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61391" marR="61391" marT="30696" marB="30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>
                        <a:alpha val="2705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8">
            <a:extLst>
              <a:ext uri="{FF2B5EF4-FFF2-40B4-BE49-F238E27FC236}">
                <a16:creationId xmlns:a16="http://schemas.microsoft.com/office/drawing/2014/main" id="{A31D89AC-F80A-7D6E-A4FA-7E3735443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6199" y="56603"/>
            <a:ext cx="3014226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002060"/>
                </a:solidFill>
                <a:latin typeface="+mn-lt"/>
              </a:rPr>
              <a:t>Reporting Period            : 24:08:24</a:t>
            </a:r>
            <a:endParaRPr lang="en-US" sz="1000" b="1" dirty="0"/>
          </a:p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002060"/>
                </a:solidFill>
                <a:latin typeface="+mn-lt"/>
              </a:rPr>
              <a:t>Overall</a:t>
            </a:r>
            <a:r>
              <a:rPr lang="en-US" sz="10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2060"/>
                </a:solidFill>
                <a:latin typeface="+mn-lt"/>
              </a:rPr>
              <a:t>Program Status :     </a:t>
            </a:r>
            <a:endParaRPr lang="en-US" sz="1000" baseline="300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Pie 69">
            <a:extLst>
              <a:ext uri="{FF2B5EF4-FFF2-40B4-BE49-F238E27FC236}">
                <a16:creationId xmlns:a16="http://schemas.microsoft.com/office/drawing/2014/main" id="{50F6AE1F-54A7-598E-C389-B2F5980A798E}"/>
              </a:ext>
            </a:extLst>
          </p:cNvPr>
          <p:cNvSpPr>
            <a:spLocks/>
          </p:cNvSpPr>
          <p:nvPr/>
        </p:nvSpPr>
        <p:spPr bwMode="auto">
          <a:xfrm>
            <a:off x="10333055" y="289226"/>
            <a:ext cx="129550" cy="126397"/>
          </a:xfrm>
          <a:custGeom>
            <a:avLst/>
            <a:gdLst>
              <a:gd name="T0" fmla="*/ 56935 w 340783"/>
              <a:gd name="T1" fmla="*/ 0 h 340783"/>
              <a:gd name="T2" fmla="*/ 113871 w 340783"/>
              <a:gd name="T3" fmla="*/ 55946 h 340783"/>
              <a:gd name="T4" fmla="*/ 56935 w 340783"/>
              <a:gd name="T5" fmla="*/ 111891 h 340783"/>
              <a:gd name="T6" fmla="*/ 0 w 340783"/>
              <a:gd name="T7" fmla="*/ 55946 h 340783"/>
              <a:gd name="T8" fmla="*/ 56935 w 340783"/>
              <a:gd name="T9" fmla="*/ 0 h 340783"/>
              <a:gd name="T10" fmla="*/ 56936 w 340783"/>
              <a:gd name="T11" fmla="*/ 55946 h 340783"/>
              <a:gd name="T12" fmla="*/ 56935 w 340783"/>
              <a:gd name="T13" fmla="*/ 0 h 3407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0783"/>
              <a:gd name="T22" fmla="*/ 0 h 340783"/>
              <a:gd name="T23" fmla="*/ 340783 w 340783"/>
              <a:gd name="T24" fmla="*/ 340783 h 34078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0783" h="340783">
                <a:moveTo>
                  <a:pt x="170391" y="0"/>
                </a:moveTo>
                <a:cubicBezTo>
                  <a:pt x="264496" y="0"/>
                  <a:pt x="340783" y="76287"/>
                  <a:pt x="340783" y="170392"/>
                </a:cubicBezTo>
                <a:cubicBezTo>
                  <a:pt x="340783" y="264497"/>
                  <a:pt x="264496" y="340784"/>
                  <a:pt x="170391" y="340784"/>
                </a:cubicBezTo>
                <a:cubicBezTo>
                  <a:pt x="76286" y="340784"/>
                  <a:pt x="-1" y="264497"/>
                  <a:pt x="-1" y="170392"/>
                </a:cubicBezTo>
                <a:cubicBezTo>
                  <a:pt x="-1" y="76287"/>
                  <a:pt x="76286" y="0"/>
                  <a:pt x="170391" y="0"/>
                </a:cubicBezTo>
                <a:cubicBezTo>
                  <a:pt x="170391" y="56797"/>
                  <a:pt x="170392" y="113595"/>
                  <a:pt x="170392" y="170392"/>
                </a:cubicBezTo>
                <a:cubicBezTo>
                  <a:pt x="170392" y="113595"/>
                  <a:pt x="170391" y="56797"/>
                  <a:pt x="170391" y="0"/>
                </a:cubicBez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2083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3DA8A-4BC6-B8C6-9D27-DA9DA1213D62}"/>
              </a:ext>
            </a:extLst>
          </p:cNvPr>
          <p:cNvSpPr txBox="1"/>
          <p:nvPr/>
        </p:nvSpPr>
        <p:spPr>
          <a:xfrm>
            <a:off x="164357" y="870184"/>
            <a:ext cx="5128767" cy="4157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>
              <a:spcBef>
                <a:spcPts val="500"/>
              </a:spcBef>
            </a:pPr>
            <a:endParaRPr lang="en-US" sz="900" dirty="0"/>
          </a:p>
          <a:p>
            <a:pPr marL="174625">
              <a:spcBef>
                <a:spcPts val="500"/>
              </a:spcBef>
            </a:pPr>
            <a:endParaRPr lang="en-US" sz="900" dirty="0"/>
          </a:p>
          <a:p>
            <a:pPr marL="174625">
              <a:spcBef>
                <a:spcPts val="500"/>
              </a:spcBef>
            </a:pPr>
            <a:r>
              <a:rPr lang="en-US" sz="900" b="1" dirty="0"/>
              <a:t>                                                                                    </a:t>
            </a:r>
            <a:r>
              <a:rPr lang="en-US" sz="1500" b="1" dirty="0"/>
              <a:t>SPRINT 1</a:t>
            </a:r>
          </a:p>
          <a:p>
            <a:pPr marL="174625">
              <a:spcBef>
                <a:spcPts val="500"/>
              </a:spcBef>
            </a:pPr>
            <a:r>
              <a:rPr lang="en-US" sz="900" b="1" dirty="0"/>
              <a:t>                                                                                          </a:t>
            </a:r>
            <a:r>
              <a:rPr lang="en-US" sz="1200" b="1" dirty="0"/>
              <a:t>WEEK 1</a:t>
            </a:r>
          </a:p>
          <a:p>
            <a:pPr marL="174625">
              <a:spcBef>
                <a:spcPts val="500"/>
              </a:spcBef>
            </a:pPr>
            <a:r>
              <a:rPr lang="en-US" sz="1200" b="1" dirty="0"/>
              <a:t>Frontend</a:t>
            </a:r>
          </a:p>
          <a:p>
            <a:pPr marL="346075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200" dirty="0"/>
              <a:t>Build Admin and Driver dashboards with alerts, location and analytics</a:t>
            </a:r>
          </a:p>
          <a:p>
            <a:pPr marL="346075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200" dirty="0"/>
              <a:t>Develop UI components for dashboards and alert pages with routing and state management</a:t>
            </a:r>
            <a:br>
              <a:rPr lang="en-GB" sz="900" dirty="0"/>
            </a:br>
            <a:endParaRPr lang="en-US" sz="900" dirty="0"/>
          </a:p>
          <a:p>
            <a:pPr marL="174625">
              <a:spcBef>
                <a:spcPts val="500"/>
              </a:spcBef>
            </a:pPr>
            <a:r>
              <a:rPr lang="en-US" sz="1200" b="1" dirty="0"/>
              <a:t>Backend</a:t>
            </a:r>
          </a:p>
          <a:p>
            <a:pPr marL="346075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sz="1200" dirty="0"/>
              <a:t>Design ER diagram and implement MySQL schema</a:t>
            </a:r>
          </a:p>
          <a:p>
            <a:pPr marL="346075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200" dirty="0"/>
              <a:t>Develop MQTT subscriber and REST APIs for telemetry, alerts, and user management</a:t>
            </a:r>
          </a:p>
          <a:p>
            <a:pPr marL="346075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200" dirty="0"/>
              <a:t>Integrate backend with HiveMQ Cloud and handle data persistence</a:t>
            </a:r>
          </a:p>
          <a:p>
            <a:pPr marL="174625">
              <a:spcBef>
                <a:spcPts val="500"/>
              </a:spcBef>
            </a:pPr>
            <a:r>
              <a:rPr lang="en-US" sz="1200" b="1" dirty="0"/>
              <a:t>Cloud</a:t>
            </a:r>
          </a:p>
          <a:p>
            <a:pPr marL="346075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200" dirty="0"/>
              <a:t>Create MQTT simulator (telemetry data: fuel level, speed, engine temp, location)</a:t>
            </a:r>
          </a:p>
          <a:p>
            <a:pPr marL="346075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1200" dirty="0"/>
              <a:t>Register topics and connect simulator with HiveMQ Cloud</a:t>
            </a:r>
            <a:endParaRPr lang="en-GB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B54D3-F220-F149-A421-811941C37C2B}"/>
              </a:ext>
            </a:extLst>
          </p:cNvPr>
          <p:cNvSpPr txBox="1"/>
          <p:nvPr/>
        </p:nvSpPr>
        <p:spPr>
          <a:xfrm>
            <a:off x="6867525" y="5000625"/>
            <a:ext cx="320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2A5C4-0629-DD3F-740F-53FDB1A0C870}"/>
              </a:ext>
            </a:extLst>
          </p:cNvPr>
          <p:cNvSpPr txBox="1"/>
          <p:nvPr/>
        </p:nvSpPr>
        <p:spPr>
          <a:xfrm>
            <a:off x="364382" y="5000625"/>
            <a:ext cx="6002324" cy="433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>
              <a:spcBef>
                <a:spcPts val="500"/>
              </a:spcBef>
            </a:pPr>
            <a:endParaRPr lang="en-US" sz="900" b="1" dirty="0"/>
          </a:p>
          <a:p>
            <a:pPr marL="228600" indent="-53975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9330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75D6C10-B5A7-4715-803E-0501C9C2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4DB4A-568F-65A0-AECC-1BDE7AD8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0"/>
            <a:ext cx="3976496" cy="9800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Plan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8220E8-662E-29E0-5B38-69B2A355F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079744"/>
              </p:ext>
            </p:extLst>
          </p:nvPr>
        </p:nvGraphicFramePr>
        <p:xfrm>
          <a:off x="386694" y="829192"/>
          <a:ext cx="11415561" cy="590260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630915">
                  <a:extLst>
                    <a:ext uri="{9D8B030D-6E8A-4147-A177-3AD203B41FA5}">
                      <a16:colId xmlns:a16="http://schemas.microsoft.com/office/drawing/2014/main" val="202291828"/>
                    </a:ext>
                  </a:extLst>
                </a:gridCol>
                <a:gridCol w="4784646">
                  <a:extLst>
                    <a:ext uri="{9D8B030D-6E8A-4147-A177-3AD203B41FA5}">
                      <a16:colId xmlns:a16="http://schemas.microsoft.com/office/drawing/2014/main" val="3398935871"/>
                    </a:ext>
                  </a:extLst>
                </a:gridCol>
              </a:tblGrid>
              <a:tr h="350136">
                <a:tc>
                  <a:txBody>
                    <a:bodyPr/>
                    <a:lstStyle/>
                    <a:p>
                      <a:r>
                        <a:rPr lang="en-IN" sz="1500" b="0" dirty="0"/>
                        <a:t>Sprint 1 [06-08-25 – 12-08-25]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05748"/>
                  </a:ext>
                </a:extLst>
              </a:tr>
              <a:tr h="175068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Wireframe Design(Admin/Driver Dashboards)</a:t>
                      </a:r>
                      <a:endParaRPr lang="en-IN" sz="14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</a:rPr>
                        <a:t>Design ER diagram and set up MySQL schema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</a:rPr>
                        <a:t>Simulate car sensor telemetry data using MQTT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</a:rPr>
                        <a:t>Build Admin and Driver dashboards with alert,location and analytics features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</a:rPr>
                        <a:t>Configure HiveMQ Cloud with credentials and topic hierarchy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/>
                        <a:t>Designed Wireframe of project (Admin/Driver Dashboards)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/>
                        <a:t>Designed Database Schema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/>
                        <a:t>Created System Architecture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/>
                        <a:t>Use case documentation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/>
                        <a:t>Developed Frontend  for Admin and Driver Dashboards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/>
                        <a:t>HiveMQ Setup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/>
                        <a:t>Built MQTT Simulator for telemetry data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695227"/>
                  </a:ext>
                </a:extLst>
              </a:tr>
              <a:tr h="350136"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</a:rPr>
                        <a:t>Sprint 2 [13-08-25 – 19-08-25]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Outcome 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944584"/>
                  </a:ext>
                </a:extLst>
              </a:tr>
              <a:tr h="165064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Backend development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JWT authentication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HiveMQ Integration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REST API development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Frontend Backend integration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Basic Validations and error handling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134062"/>
                  </a:ext>
                </a:extLst>
              </a:tr>
              <a:tr h="350136">
                <a:tc>
                  <a:txBody>
                    <a:bodyPr/>
                    <a:lstStyle/>
                    <a:p>
                      <a:r>
                        <a:rPr lang="en-IN" sz="1500" dirty="0">
                          <a:solidFill>
                            <a:schemeClr val="bg1"/>
                          </a:solidFill>
                        </a:rPr>
                        <a:t>Sprint 3 [20-08-25 – 27-08-25]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774948"/>
                  </a:ext>
                </a:extLst>
              </a:tr>
              <a:tr h="140055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End to end testing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UI polish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Performance optimization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kern="1200" dirty="0">
                          <a:solidFill>
                            <a:schemeClr val="dk1"/>
                          </a:solidFill>
                          <a:effectLst/>
                        </a:rPr>
                        <a:t>Fix bugs and handle errors like token expiry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300" b="0" kern="1200" dirty="0">
                          <a:solidFill>
                            <a:schemeClr val="dk1"/>
                          </a:solidFill>
                          <a:effectLst/>
                        </a:rPr>
                        <a:t>Prepare final demo and documentation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946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53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DB4A-568F-65A0-AECC-1BDE7AD8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515600" cy="704850"/>
          </a:xfrm>
        </p:spPr>
        <p:txBody>
          <a:bodyPr>
            <a:normAutofit/>
          </a:bodyPr>
          <a:lstStyle/>
          <a:p>
            <a:r>
              <a:rPr lang="en-US" sz="3200" b="1" dirty="0"/>
              <a:t>Risks &amp; Mitigations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B4DD2A-D1B5-A4C1-C39C-6C69FB377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369482"/>
              </p:ext>
            </p:extLst>
          </p:nvPr>
        </p:nvGraphicFramePr>
        <p:xfrm>
          <a:off x="164560" y="885825"/>
          <a:ext cx="11455939" cy="481528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19444">
                  <a:extLst>
                    <a:ext uri="{9D8B030D-6E8A-4147-A177-3AD203B41FA5}">
                      <a16:colId xmlns:a16="http://schemas.microsoft.com/office/drawing/2014/main" val="1441318698"/>
                    </a:ext>
                  </a:extLst>
                </a:gridCol>
                <a:gridCol w="1659146">
                  <a:extLst>
                    <a:ext uri="{9D8B030D-6E8A-4147-A177-3AD203B41FA5}">
                      <a16:colId xmlns:a16="http://schemas.microsoft.com/office/drawing/2014/main" val="3305183577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95122158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839813855"/>
                    </a:ext>
                  </a:extLst>
                </a:gridCol>
                <a:gridCol w="3267075">
                  <a:extLst>
                    <a:ext uri="{9D8B030D-6E8A-4147-A177-3AD203B41FA5}">
                      <a16:colId xmlns:a16="http://schemas.microsoft.com/office/drawing/2014/main" val="109235549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338468552"/>
                    </a:ext>
                  </a:extLst>
                </a:gridCol>
                <a:gridCol w="1260852">
                  <a:extLst>
                    <a:ext uri="{9D8B030D-6E8A-4147-A177-3AD203B41FA5}">
                      <a16:colId xmlns:a16="http://schemas.microsoft.com/office/drawing/2014/main" val="2874035894"/>
                    </a:ext>
                  </a:extLst>
                </a:gridCol>
                <a:gridCol w="847432">
                  <a:extLst>
                    <a:ext uri="{9D8B030D-6E8A-4147-A177-3AD203B41FA5}">
                      <a16:colId xmlns:a16="http://schemas.microsoft.com/office/drawing/2014/main" val="3292572420"/>
                    </a:ext>
                  </a:extLst>
                </a:gridCol>
                <a:gridCol w="882565">
                  <a:extLst>
                    <a:ext uri="{9D8B030D-6E8A-4147-A177-3AD203B41FA5}">
                      <a16:colId xmlns:a16="http://schemas.microsoft.com/office/drawing/2014/main" val="2444727208"/>
                    </a:ext>
                  </a:extLst>
                </a:gridCol>
              </a:tblGrid>
              <a:tr h="256377">
                <a:tc row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  <a:latin typeface="+mn-lt"/>
                        </a:rPr>
                        <a:t>S.No.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  <a:latin typeface="+mn-lt"/>
                        </a:rPr>
                        <a:t>Risk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  <a:latin typeface="+mn-lt"/>
                        </a:rPr>
                        <a:t>Priority 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  <a:latin typeface="+mn-lt"/>
                        </a:rPr>
                        <a:t>Severity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  <a:latin typeface="+mn-lt"/>
                        </a:rPr>
                        <a:t>Risk Description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</a:t>
                      </a: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Target Closure  Date</a:t>
                      </a: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Dependency/Pending with</a:t>
                      </a: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endParaRPr lang="en-US" sz="1000">
                        <a:solidFill>
                          <a:schemeClr val="bg2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 anchor="ctr"/>
                </a:tc>
                <a:extLst>
                  <a:ext uri="{0D108BD9-81ED-4DB2-BD59-A6C34878D82A}">
                    <a16:rowId xmlns:a16="http://schemas.microsoft.com/office/drawing/2014/main" val="2136968739"/>
                  </a:ext>
                </a:extLst>
              </a:tr>
              <a:tr h="1281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73025" algn="ctr" defTabSz="288017" rtl="0" eaLnBrk="1" latinLnBrk="0" hangingPunct="1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MACE</a:t>
                      </a: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3025" algn="ctr" defTabSz="288017" rtl="0" eaLnBrk="1" latinLnBrk="0" hangingPunct="1">
                        <a:lnSpc>
                          <a:spcPts val="1200"/>
                        </a:lnSpc>
                        <a:spcBef>
                          <a:spcPts val="130"/>
                        </a:spcBef>
                        <a:spcAft>
                          <a:spcPts val="1200"/>
                        </a:spcAft>
                      </a:pPr>
                      <a:r>
                        <a:rPr lang="en-US" sz="1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Cognizant</a:t>
                      </a:r>
                    </a:p>
                  </a:txBody>
                  <a:tcPr marL="28501" marR="28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889790"/>
                  </a:ext>
                </a:extLst>
              </a:tr>
              <a:tr h="842652"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lvl="0" indent="0" algn="l" defTabSz="288017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409904"/>
                  </a:ext>
                </a:extLst>
              </a:tr>
              <a:tr h="803848"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US" sz="900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309567"/>
                  </a:ext>
                </a:extLst>
              </a:tr>
              <a:tr h="920003"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US" sz="900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035117"/>
                  </a:ext>
                </a:extLst>
              </a:tr>
              <a:tr h="920003"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US" sz="900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281199"/>
                  </a:ext>
                </a:extLst>
              </a:tr>
              <a:tr h="920003"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>
                          <a:schemeClr val="tx2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US" sz="900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260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55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DB4A-568F-65A0-AECC-1BDE7AD8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515600" cy="704850"/>
          </a:xfrm>
        </p:spPr>
        <p:txBody>
          <a:bodyPr>
            <a:normAutofit/>
          </a:bodyPr>
          <a:lstStyle/>
          <a:p>
            <a:r>
              <a:rPr lang="en-US" sz="3200" b="1" dirty="0"/>
              <a:t>Key Decisions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0A3F84-96EB-FA04-E2E6-B9F82B2F8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10674"/>
              </p:ext>
            </p:extLst>
          </p:nvPr>
        </p:nvGraphicFramePr>
        <p:xfrm>
          <a:off x="229364" y="704850"/>
          <a:ext cx="11733272" cy="357778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24776">
                  <a:extLst>
                    <a:ext uri="{9D8B030D-6E8A-4147-A177-3AD203B41FA5}">
                      <a16:colId xmlns:a16="http://schemas.microsoft.com/office/drawing/2014/main" val="1666426798"/>
                    </a:ext>
                  </a:extLst>
                </a:gridCol>
                <a:gridCol w="1139289">
                  <a:extLst>
                    <a:ext uri="{9D8B030D-6E8A-4147-A177-3AD203B41FA5}">
                      <a16:colId xmlns:a16="http://schemas.microsoft.com/office/drawing/2014/main" val="751449897"/>
                    </a:ext>
                  </a:extLst>
                </a:gridCol>
                <a:gridCol w="998831">
                  <a:extLst>
                    <a:ext uri="{9D8B030D-6E8A-4147-A177-3AD203B41FA5}">
                      <a16:colId xmlns:a16="http://schemas.microsoft.com/office/drawing/2014/main" val="4069531356"/>
                    </a:ext>
                  </a:extLst>
                </a:gridCol>
                <a:gridCol w="1510320">
                  <a:extLst>
                    <a:ext uri="{9D8B030D-6E8A-4147-A177-3AD203B41FA5}">
                      <a16:colId xmlns:a16="http://schemas.microsoft.com/office/drawing/2014/main" val="3352927761"/>
                    </a:ext>
                  </a:extLst>
                </a:gridCol>
                <a:gridCol w="2998348">
                  <a:extLst>
                    <a:ext uri="{9D8B030D-6E8A-4147-A177-3AD203B41FA5}">
                      <a16:colId xmlns:a16="http://schemas.microsoft.com/office/drawing/2014/main" val="501485983"/>
                    </a:ext>
                  </a:extLst>
                </a:gridCol>
                <a:gridCol w="1921076">
                  <a:extLst>
                    <a:ext uri="{9D8B030D-6E8A-4147-A177-3AD203B41FA5}">
                      <a16:colId xmlns:a16="http://schemas.microsoft.com/office/drawing/2014/main" val="3986664985"/>
                    </a:ext>
                  </a:extLst>
                </a:gridCol>
                <a:gridCol w="2640632">
                  <a:extLst>
                    <a:ext uri="{9D8B030D-6E8A-4147-A177-3AD203B41FA5}">
                      <a16:colId xmlns:a16="http://schemas.microsoft.com/office/drawing/2014/main" val="3793238156"/>
                    </a:ext>
                  </a:extLst>
                </a:gridCol>
              </a:tblGrid>
              <a:tr h="191905"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800" kern="1200" dirty="0"/>
                        <a:t>S#</a:t>
                      </a:r>
                      <a:endParaRPr lang="en-US" sz="800" b="1" i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800" kern="1200" dirty="0"/>
                        <a:t>Date</a:t>
                      </a:r>
                      <a:endParaRPr lang="en-US" sz="800" b="1" i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800" kern="1200" dirty="0"/>
                        <a:t>Status</a:t>
                      </a:r>
                      <a:endParaRPr lang="en-US" sz="800" b="1" i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l"/>
                      <a:r>
                        <a:rPr lang="en-US" sz="800" kern="1200" dirty="0"/>
                        <a:t>Area</a:t>
                      </a:r>
                    </a:p>
                    <a:p>
                      <a:pPr algn="l"/>
                      <a:endParaRPr lang="en-US" sz="800" b="1" i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800" kern="1200" dirty="0"/>
                        <a:t>Decision Made</a:t>
                      </a:r>
                      <a:endParaRPr lang="en-US" sz="800" b="1" i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800" kern="1200" dirty="0"/>
                        <a:t>Impact</a:t>
                      </a:r>
                      <a:endParaRPr lang="en-US" sz="800" b="1" i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800" kern="1200" dirty="0"/>
                        <a:t>Options Considered</a:t>
                      </a:r>
                      <a:endParaRPr lang="en-US" sz="800" b="1" i="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467236"/>
                  </a:ext>
                </a:extLst>
              </a:tr>
              <a:tr h="191905"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564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9128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36930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82573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2821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73859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19502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65146" algn="l" defTabSz="345643" rtl="0" eaLnBrk="1" latinLnBrk="0" hangingPunct="1">
                        <a:defRPr sz="132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598351"/>
                  </a:ext>
                </a:extLst>
              </a:tr>
              <a:tr h="26501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032128"/>
                  </a:ext>
                </a:extLst>
              </a:tr>
              <a:tr h="33811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925313"/>
                  </a:ext>
                </a:extLst>
              </a:tr>
              <a:tr h="41122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576663"/>
                  </a:ext>
                </a:extLst>
              </a:tr>
              <a:tr h="48433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570986"/>
                  </a:ext>
                </a:extLst>
              </a:tr>
              <a:tr h="44793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l" defTabSz="288017" rtl="0" eaLnBrk="1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l" defTabSz="288017" rtl="0" eaLnBrk="1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222650"/>
                  </a:ext>
                </a:extLst>
              </a:tr>
              <a:tr h="53931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l" defTabSz="288017" rtl="0" eaLnBrk="1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lvl="0" indent="0" algn="l" defTabSz="288017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298477"/>
                  </a:ext>
                </a:extLst>
              </a:tr>
              <a:tr h="26516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l" defTabSz="288017" rtl="0" eaLnBrk="1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lvl="0" indent="0" algn="l" defTabSz="288017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171196"/>
                  </a:ext>
                </a:extLst>
              </a:tr>
              <a:tr h="26516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533" marR="34533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algn="l" defTabSz="288017" rtl="0" eaLnBrk="1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73025" lvl="0" indent="0" algn="l" defTabSz="288017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28501" marR="2850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8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69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53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982FD1-4D69-3BBE-7B40-8F4134A4B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Thank you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02C977F-F86B-717D-940A-1F05A0375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Smart Car Monitoring Team</a:t>
            </a:r>
          </a:p>
        </p:txBody>
      </p:sp>
    </p:spTree>
    <p:extLst>
      <p:ext uri="{BB962C8B-B14F-4D97-AF65-F5344CB8AC3E}">
        <p14:creationId xmlns:p14="http://schemas.microsoft.com/office/powerpoint/2010/main" val="174486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8b891b-748e-4a82-a049-9f11332c780f">
      <Terms xmlns="http://schemas.microsoft.com/office/infopath/2007/PartnerControls"/>
    </lcf76f155ced4ddcb4097134ff3c332f>
    <TaxCatchAll xmlns="f38add07-83a5-443a-91ad-4c8308eaf38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87F32FF0096C4FA35F802DFF38DA76" ma:contentTypeVersion="12" ma:contentTypeDescription="Create a new document." ma:contentTypeScope="" ma:versionID="b0ae218df583a297349f727ad922d906">
  <xsd:schema xmlns:xsd="http://www.w3.org/2001/XMLSchema" xmlns:xs="http://www.w3.org/2001/XMLSchema" xmlns:p="http://schemas.microsoft.com/office/2006/metadata/properties" xmlns:ns2="518b891b-748e-4a82-a049-9f11332c780f" xmlns:ns3="f38add07-83a5-443a-91ad-4c8308eaf38d" targetNamespace="http://schemas.microsoft.com/office/2006/metadata/properties" ma:root="true" ma:fieldsID="d742c2e187b7a129573c116fd3c2269f" ns2:_="" ns3:_="">
    <xsd:import namespace="518b891b-748e-4a82-a049-9f11332c780f"/>
    <xsd:import namespace="f38add07-83a5-443a-91ad-4c8308eaf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b891b-748e-4a82-a049-9f11332c78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8add07-83a5-443a-91ad-4c8308eaf38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b3123f0-637c-4a92-b6e8-60955198ad21}" ma:internalName="TaxCatchAll" ma:showField="CatchAllData" ma:web="f38add07-83a5-443a-91ad-4c8308eaf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F0A9EB-8420-4D5C-84D0-44101AD2D6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AA44E5-F7C4-4103-9433-DEC0BF4FED96}">
  <ds:schemaRefs>
    <ds:schemaRef ds:uri="518b891b-748e-4a82-a049-9f11332c780f"/>
    <ds:schemaRef ds:uri="f38add07-83a5-443a-91ad-4c8308eaf38d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2CE4F4A-9B54-4AFB-87E9-D03AD2AE7573}">
  <ds:schemaRefs>
    <ds:schemaRef ds:uri="518b891b-748e-4a82-a049-9f11332c780f"/>
    <ds:schemaRef ds:uri="f38add07-83a5-443a-91ad-4c8308eaf3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Microsoft Office PowerPoint</Application>
  <PresentationFormat>Widescreen</PresentationFormat>
  <Paragraphs>105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Smart Car Monitoring - Cognizant</vt:lpstr>
      <vt:lpstr>Project Dashboard</vt:lpstr>
      <vt:lpstr>Project Plan</vt:lpstr>
      <vt:lpstr>Risks &amp; Mitigations</vt:lpstr>
      <vt:lpstr>Key Decisions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A, Nidheesh (Cognizant)</dc:creator>
  <cp:lastModifiedBy>Shinde, Sujata (Contractor)</cp:lastModifiedBy>
  <cp:revision>1</cp:revision>
  <dcterms:created xsi:type="dcterms:W3CDTF">2024-08-09T07:37:17Z</dcterms:created>
  <dcterms:modified xsi:type="dcterms:W3CDTF">2025-08-13T10:43:28Z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0x0101001E87F32FF0096C4FA35F802DFF38DA76</vt:lpwstr>
  </property>
  <property fmtid="{D5CDD505-2E9C-101B-9397-08002B2CF9AE}" pid="3" name="MediaServiceImageTags">
    <vt:lpwstr/>
  </property>
</Properties>
</file>